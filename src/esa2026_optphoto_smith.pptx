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06" r:id="rId3"/>
    <p:sldId id="307" r:id="rId4"/>
    <p:sldId id="311" r:id="rId5"/>
    <p:sldId id="312" r:id="rId6"/>
    <p:sldId id="486" r:id="rId7"/>
    <p:sldId id="501" r:id="rId8"/>
    <p:sldId id="291" r:id="rId9"/>
    <p:sldId id="308" r:id="rId10"/>
    <p:sldId id="487" r:id="rId11"/>
    <p:sldId id="503" r:id="rId12"/>
    <p:sldId id="502" r:id="rId13"/>
    <p:sldId id="488" r:id="rId14"/>
    <p:sldId id="489" r:id="rId15"/>
    <p:sldId id="309" r:id="rId16"/>
    <p:sldId id="491" r:id="rId17"/>
    <p:sldId id="493" r:id="rId18"/>
    <p:sldId id="494" r:id="rId19"/>
    <p:sldId id="495" r:id="rId20"/>
    <p:sldId id="496" r:id="rId21"/>
    <p:sldId id="310" r:id="rId22"/>
    <p:sldId id="498" r:id="rId23"/>
    <p:sldId id="499" r:id="rId24"/>
    <p:sldId id="500" r:id="rId25"/>
    <p:sldId id="497" r:id="rId26"/>
    <p:sldId id="257" r:id="rId27"/>
    <p:sldId id="305" r:id="rId28"/>
    <p:sldId id="49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79"/>
    <p:restoredTop sz="94658"/>
  </p:normalViewPr>
  <p:slideViewPr>
    <p:cSldViewPr snapToGrid="0">
      <p:cViewPr varScale="1">
        <p:scale>
          <a:sx n="120" d="100"/>
          <a:sy n="120" d="100"/>
        </p:scale>
        <p:origin x="5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9A2F-8954-3548-9FC2-F61CB562C33A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1D594-DA1B-504F-A503-77386E5CFF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8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37003D-75D6-D9B1-9584-D157E541FC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38528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2216" y="3481495"/>
            <a:ext cx="3927566" cy="1388845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</a:t>
            </a:r>
            <a:r>
              <a:rPr lang="en-US" sz="3200" dirty="0">
                <a:solidFill>
                  <a:srgbClr val="011893"/>
                </a:solidFill>
              </a:rPr>
              <a:t>power of natural selection to eliminate uncompetitive trait combinations</a:t>
            </a:r>
            <a:r>
              <a:rPr lang="en-US" sz="3200" dirty="0"/>
              <a:t>, and thereby shape predictable, general patterns in vegetation”</a:t>
            </a:r>
          </a:p>
        </p:txBody>
      </p:sp>
      <p:pic>
        <p:nvPicPr>
          <p:cNvPr id="4" name="Picture 3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B9414E6-FB36-4172-15F1-48A4ADC72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854" y="3863711"/>
            <a:ext cx="8234291" cy="279108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Rubisco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41EB-345A-8623-321C-2DF17F91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69410-A387-C5EF-A48B-7E98177E9C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556" y="0"/>
            <a:ext cx="3383278" cy="3383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C9B5502-58A1-1782-DAB2-3AD23A14CC8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0"/>
            <a:ext cx="3383278" cy="3383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858EE-804E-9933-66C3-19584E15BF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592" y="3424792"/>
            <a:ext cx="3433207" cy="34332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2E842C-EC12-DBD4-9181-CD1F2229D5D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3449756"/>
            <a:ext cx="3383277" cy="33832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274C3-9098-5E21-EF83-159CCA0192E0}"/>
              </a:ext>
            </a:extLst>
          </p:cNvPr>
          <p:cNvSpPr txBox="1"/>
          <p:nvPr/>
        </p:nvSpPr>
        <p:spPr>
          <a:xfrm>
            <a:off x="8438865" y="910599"/>
            <a:ext cx="3753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alibri" panose="020F0502020204030204" pitchFamily="34" charset="0"/>
              </a:rPr>
              <a:t>Trait-environment relationships can be predicted in ways that are: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Parameter-sparse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Mechanistically interpretable</a:t>
            </a:r>
            <a:endParaRPr lang="en-US" sz="2800" dirty="0">
              <a:solidFill>
                <a:srgbClr val="01189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75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2147-DE6B-33CC-3558-A970C55C4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ADDB-0D51-337F-D376-046852AC5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6D76-56E5-FB66-69CF-D1B0A6368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923DB8-E727-619A-8C6F-C120072B5B86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54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2C88-1629-70D4-3225-F68258AF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253B9D-AFA8-6380-89B6-596D28005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997926-3DFF-8C67-2E73-9F0019C22E3B}"/>
              </a:ext>
            </a:extLst>
          </p:cNvPr>
          <p:cNvSpPr/>
          <p:nvPr/>
        </p:nvSpPr>
        <p:spPr>
          <a:xfrm>
            <a:off x="903767" y="233916"/>
            <a:ext cx="6390168" cy="6049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61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50C3-0B87-223F-6301-CF825DD15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01BFDC-4B77-A730-1724-5CD74D6B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DACEB3-FB84-A669-B1BF-FCFEA7BC566B}"/>
              </a:ext>
            </a:extLst>
          </p:cNvPr>
          <p:cNvSpPr txBox="1"/>
          <p:nvPr/>
        </p:nvSpPr>
        <p:spPr>
          <a:xfrm>
            <a:off x="7200900" y="1549400"/>
            <a:ext cx="378501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PC1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C</a:t>
            </a:r>
            <a:r>
              <a:rPr lang="en-US" sz="4000" u="sng" baseline="-25000" dirty="0">
                <a:solidFill>
                  <a:srgbClr val="011893"/>
                </a:solidFill>
              </a:rPr>
              <a:t>3</a:t>
            </a:r>
            <a:r>
              <a:rPr lang="en-US" sz="4000" u="sng" dirty="0">
                <a:solidFill>
                  <a:srgbClr val="011893"/>
                </a:solidFill>
              </a:rPr>
              <a:t>-C</a:t>
            </a:r>
            <a:r>
              <a:rPr lang="en-US" sz="4000" u="sng" baseline="-25000" dirty="0">
                <a:solidFill>
                  <a:srgbClr val="011893"/>
                </a:solidFill>
              </a:rPr>
              <a:t>4</a:t>
            </a:r>
            <a:r>
              <a:rPr lang="en-US" sz="4000" u="sng" dirty="0">
                <a:solidFill>
                  <a:srgbClr val="011893"/>
                </a:solidFill>
              </a:rPr>
              <a:t> divide</a:t>
            </a:r>
          </a:p>
        </p:txBody>
      </p:sp>
    </p:spTree>
    <p:extLst>
      <p:ext uri="{BB962C8B-B14F-4D97-AF65-F5344CB8AC3E}">
        <p14:creationId xmlns:p14="http://schemas.microsoft.com/office/powerpoint/2010/main" val="3698378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0" y="1549400"/>
            <a:ext cx="4406976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PC1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C</a:t>
            </a:r>
            <a:r>
              <a:rPr lang="en-US" sz="4000" baseline="-25000" dirty="0">
                <a:solidFill>
                  <a:schemeClr val="bg1">
                    <a:lumMod val="85000"/>
                  </a:schemeClr>
                </a:solidFill>
              </a:rPr>
              <a:t>3</a:t>
            </a: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-C</a:t>
            </a:r>
            <a:r>
              <a:rPr lang="en-US" sz="4000" baseline="-25000" dirty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en-US" sz="4000" dirty="0">
                <a:solidFill>
                  <a:schemeClr val="bg1">
                    <a:lumMod val="85000"/>
                  </a:schemeClr>
                </a:solidFill>
              </a:rPr>
              <a:t> divide</a:t>
            </a:r>
          </a:p>
          <a:p>
            <a:r>
              <a:rPr lang="en-US" sz="4000" dirty="0"/>
              <a:t>PC2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H</a:t>
            </a:r>
            <a:r>
              <a:rPr lang="en-US" sz="4000" baseline="-25000" dirty="0">
                <a:solidFill>
                  <a:srgbClr val="011893"/>
                </a:solidFill>
              </a:rPr>
              <a:t>2</a:t>
            </a:r>
            <a:r>
              <a:rPr lang="en-US" sz="4000" dirty="0">
                <a:solidFill>
                  <a:srgbClr val="011893"/>
                </a:solidFill>
              </a:rPr>
              <a:t>O use-PNUE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A</a:t>
            </a:r>
            <a:r>
              <a:rPr lang="en-US" sz="4000" baseline="-25000" dirty="0">
                <a:solidFill>
                  <a:srgbClr val="011893"/>
                </a:solidFill>
              </a:rPr>
              <a:t>net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wet-dry divide</a:t>
            </a:r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0" y="1549400"/>
            <a:ext cx="504625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PC3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LMA, R</a:t>
            </a:r>
            <a:r>
              <a:rPr lang="en-US" sz="4000" baseline="-25000" dirty="0">
                <a:solidFill>
                  <a:srgbClr val="011893"/>
                </a:solidFill>
              </a:rPr>
              <a:t>d</a:t>
            </a:r>
            <a:endParaRPr lang="en-US" sz="4000" dirty="0">
              <a:solidFill>
                <a:srgbClr val="011893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Leaf carbon costs</a:t>
            </a:r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lvl="1"/>
            <a:r>
              <a:rPr lang="en-US" dirty="0"/>
              <a:t>Deciduous trees, evergreen trees, mixed forests, C</a:t>
            </a:r>
            <a:r>
              <a:rPr lang="en-US" baseline="-25000" dirty="0"/>
              <a:t>4</a:t>
            </a:r>
            <a:r>
              <a:rPr lang="en-US" dirty="0"/>
              <a:t> grasses</a:t>
            </a:r>
          </a:p>
          <a:p>
            <a:r>
              <a:rPr lang="en-US" dirty="0"/>
              <a:t>Simulated optimal traits 10,000x using climate distribution (mean +/- 0.1*mean)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77370EA-D795-D425-52DD-FDE519F7A5C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FDEAF8-25FF-4A51-60E3-D81179A78940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/>
              <a:t>A lot of within-site variability</a:t>
            </a:r>
          </a:p>
        </p:txBody>
      </p:sp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1893"/>
                </a:solidFill>
              </a:rPr>
              <a:t>Within-site variability </a:t>
            </a:r>
            <a:r>
              <a:rPr lang="en-US" sz="3600" dirty="0"/>
              <a:t>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</a:t>
            </a:r>
            <a:r>
              <a:rPr lang="en-US" sz="3600" dirty="0">
                <a:solidFill>
                  <a:srgbClr val="011893"/>
                </a:solidFill>
              </a:rPr>
              <a:t>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</a:t>
            </a:r>
            <a:r>
              <a:rPr lang="en-US" sz="3600" dirty="0">
                <a:solidFill>
                  <a:srgbClr val="011893"/>
                </a:solidFill>
              </a:rPr>
              <a:t>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climate-driven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</a:t>
            </a:r>
          </a:p>
          <a:p>
            <a:r>
              <a:rPr lang="en-US" dirty="0">
                <a:solidFill>
                  <a:srgbClr val="011893"/>
                </a:solidFill>
              </a:rPr>
              <a:t>Plant type </a:t>
            </a:r>
            <a:r>
              <a:rPr lang="en-US" dirty="0"/>
              <a:t>dictates optimal photosynthetic strategies via some (LMA, WUE, N use),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 three defining axes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Plant type dictates optimal photosynthetic strategies via some (LMA, WUE, N use), but not all traits</a:t>
            </a:r>
          </a:p>
          <a:p>
            <a:r>
              <a:rPr lang="en-US" dirty="0"/>
              <a:t>There are </a:t>
            </a:r>
            <a:r>
              <a:rPr lang="en-US" dirty="0">
                <a:solidFill>
                  <a:srgbClr val="011893"/>
                </a:solidFill>
              </a:rPr>
              <a:t>many optimal strategies </a:t>
            </a:r>
            <a:r>
              <a:rPr lang="en-US" dirty="0"/>
              <a:t>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/esa_2026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nsmith87@unl.edu</a:t>
            </a:r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1691</TotalTime>
  <Words>543</Words>
  <Application>Microsoft Macintosh PowerPoint</Application>
  <PresentationFormat>Widescreen</PresentationFormat>
  <Paragraphs>106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Outline</vt:lpstr>
      <vt:lpstr>Global simulation strategy</vt:lpstr>
      <vt:lpstr>PowerPoint Presentation</vt:lpstr>
      <vt:lpstr>PowerPoint Presentation</vt:lpstr>
      <vt:lpstr>PowerPoint Presentation</vt:lpstr>
      <vt:lpstr>PowerPoint Presentation</vt:lpstr>
      <vt:lpstr>Outline</vt:lpstr>
      <vt:lpstr>Site-level simulation strategy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32</cp:revision>
  <dcterms:created xsi:type="dcterms:W3CDTF">2026-04-27T13:58:39Z</dcterms:created>
  <dcterms:modified xsi:type="dcterms:W3CDTF">2026-07-27T18:00:02Z</dcterms:modified>
</cp:coreProperties>
</file>