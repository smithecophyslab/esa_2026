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306" r:id="rId3"/>
    <p:sldId id="307" r:id="rId4"/>
    <p:sldId id="311" r:id="rId5"/>
    <p:sldId id="312" r:id="rId6"/>
    <p:sldId id="486" r:id="rId7"/>
    <p:sldId id="501" r:id="rId8"/>
    <p:sldId id="291" r:id="rId9"/>
    <p:sldId id="504" r:id="rId10"/>
    <p:sldId id="505" r:id="rId11"/>
    <p:sldId id="506" r:id="rId12"/>
    <p:sldId id="308" r:id="rId13"/>
    <p:sldId id="487" r:id="rId14"/>
    <p:sldId id="507" r:id="rId15"/>
    <p:sldId id="508" r:id="rId16"/>
    <p:sldId id="509" r:id="rId17"/>
    <p:sldId id="510" r:id="rId18"/>
    <p:sldId id="503" r:id="rId19"/>
    <p:sldId id="502" r:id="rId20"/>
    <p:sldId id="488" r:id="rId21"/>
    <p:sldId id="489" r:id="rId22"/>
    <p:sldId id="309" r:id="rId23"/>
    <p:sldId id="491" r:id="rId24"/>
    <p:sldId id="513" r:id="rId25"/>
    <p:sldId id="511" r:id="rId26"/>
    <p:sldId id="512" r:id="rId27"/>
    <p:sldId id="493" r:id="rId28"/>
    <p:sldId id="494" r:id="rId29"/>
    <p:sldId id="495" r:id="rId30"/>
    <p:sldId id="496" r:id="rId31"/>
    <p:sldId id="310" r:id="rId32"/>
    <p:sldId id="498" r:id="rId33"/>
    <p:sldId id="499" r:id="rId34"/>
    <p:sldId id="500" r:id="rId35"/>
    <p:sldId id="497" r:id="rId36"/>
    <p:sldId id="514" r:id="rId37"/>
    <p:sldId id="257" r:id="rId38"/>
    <p:sldId id="305" r:id="rId39"/>
    <p:sldId id="49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78"/>
    <p:restoredTop sz="94658"/>
  </p:normalViewPr>
  <p:slideViewPr>
    <p:cSldViewPr snapToGrid="0">
      <p:cViewPr varScale="1">
        <p:scale>
          <a:sx n="83" d="100"/>
          <a:sy n="83" d="100"/>
        </p:scale>
        <p:origin x="232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0F9A2F-8954-3548-9FC2-F61CB562C33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1D594-DA1B-504F-A503-77386E5CF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1D594-DA1B-504F-A503-77386E5CFF6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82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B1D7-6CE8-1CC2-036E-84AA2AA3A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C7AB5-A82B-74E3-451D-990B76B29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5609F-0AFF-E0F6-7552-82DA88C87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3224E-FA31-AB8C-8947-074CF6B87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DBCD4-2872-FB0D-846C-DE10502D3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31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D4B59-20E4-3F90-156B-79C86FE16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6F3CD-4EE2-BDDD-3CCC-EB4E2DCB3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56DBC-A78E-111F-5EC2-DC464933B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4C6E-3584-1B51-4B85-E61733AB2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06255-41D6-8BD8-E8F9-4F6A09E59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1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5A0F-620D-1157-FFF4-95429D23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CC0D1-293A-5E05-6CF0-0339A7D1E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C2467-9F4B-AB78-9FA7-325154F57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8F405-85BB-63E5-9E05-48E2378F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1D88F-73CB-701B-9276-63D2077B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49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EDAB-057C-F7BE-9940-1B4348E30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663C7-EC5C-6D84-65E1-874BC810D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4DA09-C379-90FE-A469-FF02716F1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C1737-3E28-7294-CB0F-8109AD617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E261E-F6D4-FDC6-5D8E-AFCDA4C3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E592F-2ECD-65A3-AE3B-026465B0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2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46EF-CB0E-0C74-4AA2-449BD528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C55C6-24B5-532F-1808-5D4817C0F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B6CD2-A206-39C6-E2DC-FA0459936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E37A8-67CC-06E6-09B1-091A7ADAED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1F6995-4884-A234-68C1-6F839D100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420358-538C-3605-F4CC-7C2D97BCA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0BFE52-DE9A-48CF-24A1-3580DE1C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2F2D8D-3674-2FA6-1F95-73396E34B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9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4846-AF82-7135-823B-0FF4859FA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11DA6-9A01-3577-1E1D-8C97C9610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ACEF4B-877A-656F-DD16-B3DAE9120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0CF87-BE7A-5E93-9ABD-09064493D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45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278296-0F3E-43F5-1DD1-2BA39DE2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AA64B0-D27F-A6E7-855C-23007BF6B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F3F23-A6D7-9CA0-4CEE-334205AD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7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13B7-924D-4B49-EFF2-19EB40984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4E1AC-236E-2402-D0DA-FD7514243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CECAF-59C5-B70C-EA2D-3B01743A8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8C59C-B622-B805-8EF7-3DFE5F613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430B8-BF80-187A-3729-B91B2F82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0C5C5-A25A-1E33-5949-3C108222B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77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57DA-E2A0-2FD4-8E65-B9B8AA1B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5D088-5F5E-9A52-DCD8-90A72066FC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465B2-F169-EB05-B1BC-96FA8BC84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DC3FB-48A7-E7DB-1718-D08A16058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31D59-4F5C-D9C5-DB97-5F8ACB22D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68ACB-4661-7674-942D-453FE857D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17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82C1-E7B7-1885-D70A-D1B70E56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0F1634-D54F-9142-B3C0-D9E06B296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0C2D9-5EBE-8758-9D7E-5E947308B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5B23F-73DE-E5A4-497D-02DCE8363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CEC46-9F53-5C40-5664-1289F4824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10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E6F1A-DAEF-A184-3F10-C4108E16A8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80BFB-DB46-E21B-1053-43844F7B9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F7FD-70ED-2A5E-6AD6-86C3425E1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9D509-003D-A77C-E2E1-F2D0071A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43223-30EA-88AC-752C-E69FA0E93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6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5244B7-ADE3-2D82-FB38-1653C5E2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CF914-9AD8-A65B-5F0D-396460312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E20EF-1742-7A78-0282-66035EEE4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A1690-DE7E-224D-9F4F-B19CE006808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F294A-596A-B6E4-623B-0D8197CB7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FFEBF-F97B-DD26-ABF1-91711C0FC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37003D-75D6-D9B1-9584-D157E541FC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99"/>
          <a:stretch/>
        </p:blipFill>
        <p:spPr>
          <a:xfrm>
            <a:off x="-1" y="7336"/>
            <a:ext cx="12192000" cy="6850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465914-FCE6-BD75-96EB-D7F67A8EE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38528"/>
          </a:xfrm>
          <a:solidFill>
            <a:schemeClr val="bg1"/>
          </a:solidFill>
          <a:ln w="76200">
            <a:solidFill>
              <a:srgbClr val="011893"/>
            </a:solidFill>
          </a:ln>
        </p:spPr>
        <p:txBody>
          <a:bodyPr/>
          <a:lstStyle/>
          <a:p>
            <a:r>
              <a:rPr lang="en-US" dirty="0"/>
              <a:t>Optimal photosynthetic strategies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A797B-9B94-1843-F0C8-2B61AF669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2216" y="3481495"/>
            <a:ext cx="3927566" cy="1388845"/>
          </a:xfrm>
          <a:solidFill>
            <a:schemeClr val="bg1"/>
          </a:solidFill>
          <a:ln w="76200">
            <a:solidFill>
              <a:srgbClr val="011893"/>
            </a:solidFill>
          </a:ln>
        </p:spPr>
        <p:txBody>
          <a:bodyPr/>
          <a:lstStyle/>
          <a:p>
            <a:r>
              <a:rPr lang="en-US" dirty="0"/>
              <a:t>Nick Smith</a:t>
            </a:r>
          </a:p>
          <a:p>
            <a:r>
              <a:rPr lang="en-US" dirty="0"/>
              <a:t>Texas Tech University</a:t>
            </a:r>
          </a:p>
          <a:p>
            <a:r>
              <a:rPr lang="en-US" dirty="0" err="1"/>
              <a:t>nick.smith@ttu.edu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198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6E519-EBE0-E18E-942A-F0D040DE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137A1-6F4C-603B-D5F9-02E085DCB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Eco-evolutionary optimality theory</a:t>
            </a:r>
          </a:p>
          <a:p>
            <a:r>
              <a:rPr lang="en-US" sz="4400" dirty="0"/>
              <a:t>Study 1: Global optimal photosynthetic strategies</a:t>
            </a:r>
          </a:p>
          <a:p>
            <a:r>
              <a:rPr lang="en-US" sz="4400" dirty="0"/>
              <a:t>Study 2: Site-level optimal photosynthetic strategies</a:t>
            </a:r>
          </a:p>
          <a:p>
            <a:r>
              <a:rPr lang="en-US" sz="4400" dirty="0"/>
              <a:t>Implications</a:t>
            </a:r>
          </a:p>
        </p:txBody>
      </p:sp>
    </p:spTree>
    <p:extLst>
      <p:ext uri="{BB962C8B-B14F-4D97-AF65-F5344CB8AC3E}">
        <p14:creationId xmlns:p14="http://schemas.microsoft.com/office/powerpoint/2010/main" val="234056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34709-2F8C-B9CB-2062-96B5E23BE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2B2D9-7B19-3245-AC2B-7A555742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164E8-FE1B-A86B-AEF9-8F2E0D69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Eco-evolutionary optimality theory</a:t>
            </a:r>
          </a:p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Study 1: Global optimal photosynthetic strategies</a:t>
            </a:r>
          </a:p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Study 2: Site-level optimal photosynthetic strategies</a:t>
            </a:r>
          </a:p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Implications</a:t>
            </a:r>
          </a:p>
        </p:txBody>
      </p:sp>
    </p:spTree>
    <p:extLst>
      <p:ext uri="{BB962C8B-B14F-4D97-AF65-F5344CB8AC3E}">
        <p14:creationId xmlns:p14="http://schemas.microsoft.com/office/powerpoint/2010/main" val="160141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1B62A-C9B4-4A8D-9F7C-67F1C0441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Eco-evolutionary optimality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DF3F7-3B03-4704-B6ED-F46CFD402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 “EEO invokes the </a:t>
            </a:r>
            <a:r>
              <a:rPr lang="en-US" sz="3200" dirty="0">
                <a:solidFill>
                  <a:srgbClr val="011893"/>
                </a:solidFill>
              </a:rPr>
              <a:t>power of natural selection to eliminate uncompetitive trait combinations</a:t>
            </a:r>
            <a:r>
              <a:rPr lang="en-US" sz="3200" dirty="0"/>
              <a:t>, and thereby shape predictable, general patterns in vegetation”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CC1F0D-338A-E2EC-866A-5FE27AC2E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797" y="3541938"/>
            <a:ext cx="6826405" cy="311534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2164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47F62-C540-4B11-CA17-53964EA4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Photosynthesis optimization: least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6E0C2-9276-EF2E-4F42-00D161341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>
                <a:solidFill>
                  <a:srgbClr val="011893"/>
                </a:solidFill>
              </a:rPr>
              <a:t>Optimally, plants will maintain fastest rate of photosynthesis at the lowest summed resource cost (water and nutrient use)</a:t>
            </a:r>
          </a:p>
        </p:txBody>
      </p:sp>
    </p:spTree>
    <p:extLst>
      <p:ext uri="{BB962C8B-B14F-4D97-AF65-F5344CB8AC3E}">
        <p14:creationId xmlns:p14="http://schemas.microsoft.com/office/powerpoint/2010/main" val="191338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5269-8B2C-B845-B4E6-10EDE8B61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Optimal trait example</a:t>
            </a:r>
            <a:br>
              <a:rPr lang="en-US" dirty="0"/>
            </a:br>
            <a:r>
              <a:rPr lang="en-US" dirty="0"/>
              <a:t>The maximum rate of </a:t>
            </a:r>
            <a:r>
              <a:rPr lang="en-US" dirty="0" err="1"/>
              <a:t>RuBisCO</a:t>
            </a:r>
            <a:r>
              <a:rPr lang="en-US" dirty="0"/>
              <a:t> carboxylation (</a:t>
            </a:r>
            <a:r>
              <a:rPr lang="en-US" i="1" dirty="0" err="1">
                <a:solidFill>
                  <a:srgbClr val="011893"/>
                </a:solidFill>
              </a:rPr>
              <a:t>V</a:t>
            </a:r>
            <a:r>
              <a:rPr lang="en-US" baseline="-25000" dirty="0" err="1">
                <a:solidFill>
                  <a:srgbClr val="011893"/>
                </a:solidFill>
              </a:rPr>
              <a:t>cmax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302AC-BCAE-5743-98C7-B877F4D1D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13A4D-9173-7BE1-53FB-48A4C11976B4}"/>
              </a:ext>
            </a:extLst>
          </p:cNvPr>
          <p:cNvSpPr txBox="1"/>
          <p:nvPr/>
        </p:nvSpPr>
        <p:spPr>
          <a:xfrm>
            <a:off x="10210367" y="6488668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Smith et al. (2019)</a:t>
            </a:r>
          </a:p>
        </p:txBody>
      </p:sp>
    </p:spTree>
    <p:extLst>
      <p:ext uri="{BB962C8B-B14F-4D97-AF65-F5344CB8AC3E}">
        <p14:creationId xmlns:p14="http://schemas.microsoft.com/office/powerpoint/2010/main" val="3720876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141EB-345A-8623-321C-2DF17F91A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69410-A387-C5EF-A48B-7E98177E9C1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556" y="0"/>
            <a:ext cx="3383278" cy="338327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C9B5502-58A1-1782-DAB2-3AD23A14CC8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0995" y="0"/>
            <a:ext cx="3383278" cy="33832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A858EE-804E-9933-66C3-19584E15BF4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0592" y="3424792"/>
            <a:ext cx="3433207" cy="34332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2E842C-EC12-DBD4-9181-CD1F2229D5D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0995" y="3449756"/>
            <a:ext cx="3383277" cy="33832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E274C3-9098-5E21-EF83-159CCA0192E0}"/>
              </a:ext>
            </a:extLst>
          </p:cNvPr>
          <p:cNvSpPr txBox="1"/>
          <p:nvPr/>
        </p:nvSpPr>
        <p:spPr>
          <a:xfrm>
            <a:off x="8438865" y="910599"/>
            <a:ext cx="375313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alibri" panose="020F0502020204030204" pitchFamily="34" charset="0"/>
              </a:rPr>
              <a:t>Trait-environment relationships can be predicted in ways that are:</a:t>
            </a:r>
          </a:p>
          <a:p>
            <a:pPr marL="742950" indent="-742950">
              <a:buAutoNum type="arabicPeriod"/>
            </a:pPr>
            <a:r>
              <a:rPr lang="en-US" sz="2800" dirty="0">
                <a:solidFill>
                  <a:srgbClr val="011893"/>
                </a:solidFill>
                <a:cs typeface="Calibri" panose="020F0502020204030204" pitchFamily="34" charset="0"/>
              </a:rPr>
              <a:t>Parameter-sparse</a:t>
            </a:r>
          </a:p>
          <a:p>
            <a:pPr marL="742950" indent="-742950">
              <a:buAutoNum type="arabicPeriod"/>
            </a:pPr>
            <a:r>
              <a:rPr lang="en-US" sz="2800" dirty="0">
                <a:solidFill>
                  <a:srgbClr val="011893"/>
                </a:solidFill>
                <a:cs typeface="Calibri" panose="020F0502020204030204" pitchFamily="34" charset="0"/>
              </a:rPr>
              <a:t>Mechanistically interpretable</a:t>
            </a:r>
            <a:endParaRPr lang="en-US" sz="2800" dirty="0">
              <a:solidFill>
                <a:srgbClr val="01189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56D39F-1C66-777E-F759-014498E5B2EC}"/>
              </a:ext>
            </a:extLst>
          </p:cNvPr>
          <p:cNvSpPr txBox="1"/>
          <p:nvPr/>
        </p:nvSpPr>
        <p:spPr>
          <a:xfrm>
            <a:off x="10210367" y="6488668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Smith et al. (2019)</a:t>
            </a:r>
          </a:p>
        </p:txBody>
      </p:sp>
    </p:spTree>
    <p:extLst>
      <p:ext uri="{BB962C8B-B14F-4D97-AF65-F5344CB8AC3E}">
        <p14:creationId xmlns:p14="http://schemas.microsoft.com/office/powerpoint/2010/main" val="3917755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11306" y="579639"/>
            <a:ext cx="10515600" cy="8720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 can predict optimal traits in different environments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FF4907-D727-8F41-B448-D51133943C0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73398" y="2129421"/>
            <a:ext cx="8591415" cy="42183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C11B8A2-771B-DE48-B3AA-074713D6ED9A}"/>
              </a:ext>
            </a:extLst>
          </p:cNvPr>
          <p:cNvSpPr/>
          <p:nvPr/>
        </p:nvSpPr>
        <p:spPr>
          <a:xfrm>
            <a:off x="9742714" y="4724400"/>
            <a:ext cx="97972" cy="130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1BE38-1643-D9F7-218C-353E45E312CC}"/>
              </a:ext>
            </a:extLst>
          </p:cNvPr>
          <p:cNvSpPr txBox="1"/>
          <p:nvPr/>
        </p:nvSpPr>
        <p:spPr>
          <a:xfrm>
            <a:off x="10210367" y="6488668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Smith et al. (2019)</a:t>
            </a:r>
          </a:p>
        </p:txBody>
      </p:sp>
    </p:spTree>
    <p:extLst>
      <p:ext uri="{BB962C8B-B14F-4D97-AF65-F5344CB8AC3E}">
        <p14:creationId xmlns:p14="http://schemas.microsoft.com/office/powerpoint/2010/main" val="3220437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EABEE-DDE1-D948-F3BB-DCD26B36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A327C22-C860-D6CD-526A-7E9EF2AAD426}"/>
              </a:ext>
            </a:extLst>
          </p:cNvPr>
          <p:cNvSpPr txBox="1">
            <a:spLocks/>
          </p:cNvSpPr>
          <p:nvPr/>
        </p:nvSpPr>
        <p:spPr>
          <a:xfrm>
            <a:off x="811306" y="579639"/>
            <a:ext cx="10515600" cy="8720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 can predict optimal traits in different environments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BC9511-F36F-434F-0B81-321BE86DFD3E}"/>
              </a:ext>
            </a:extLst>
          </p:cNvPr>
          <p:cNvSpPr/>
          <p:nvPr/>
        </p:nvSpPr>
        <p:spPr>
          <a:xfrm>
            <a:off x="9742714" y="4724400"/>
            <a:ext cx="97972" cy="130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90A268-B536-C800-3379-5FB0E9F8F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15" y="4135091"/>
            <a:ext cx="3664348" cy="1439873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C98A41-17A7-E8F4-0EB7-A8615BF2E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66288"/>
            <a:ext cx="3887395" cy="1643182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B0165A-B26A-A1A4-F75F-6461B92EB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917" y="4135091"/>
            <a:ext cx="3694668" cy="1738055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72BA20-017E-4876-2FEC-9068D49D2A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1589" y="2230443"/>
            <a:ext cx="3569854" cy="1682469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878B9D-F8F5-926D-4197-5FAFD7496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533" y="4691712"/>
            <a:ext cx="3372485" cy="1446037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7231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41453-D0DD-506B-AFA9-C34F68A2F2C3}"/>
              </a:ext>
            </a:extLst>
          </p:cNvPr>
          <p:cNvSpPr txBox="1"/>
          <p:nvPr/>
        </p:nvSpPr>
        <p:spPr>
          <a:xfrm>
            <a:off x="1027771" y="2274178"/>
            <a:ext cx="10136458" cy="2585323"/>
          </a:xfrm>
          <a:prstGeom prst="rect">
            <a:avLst/>
          </a:prstGeom>
          <a:solidFill>
            <a:srgbClr val="00B050">
              <a:alpha val="75034"/>
            </a:srgbClr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5400" dirty="0"/>
              <a:t>How does the environment shape optimal photosynthesis in a multi-trait context?</a:t>
            </a:r>
          </a:p>
        </p:txBody>
      </p:sp>
    </p:spTree>
    <p:extLst>
      <p:ext uri="{BB962C8B-B14F-4D97-AF65-F5344CB8AC3E}">
        <p14:creationId xmlns:p14="http://schemas.microsoft.com/office/powerpoint/2010/main" val="1092529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62899-B979-481F-D27F-A94635DB2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9129B-E049-3326-498A-07B0C4556450}"/>
              </a:ext>
            </a:extLst>
          </p:cNvPr>
          <p:cNvSpPr txBox="1"/>
          <p:nvPr/>
        </p:nvSpPr>
        <p:spPr>
          <a:xfrm>
            <a:off x="1027771" y="2274178"/>
            <a:ext cx="10136458" cy="2585323"/>
          </a:xfrm>
          <a:prstGeom prst="rect">
            <a:avLst/>
          </a:prstGeom>
          <a:solidFill>
            <a:srgbClr val="00B050">
              <a:alpha val="75034"/>
            </a:srgbClr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5400" dirty="0"/>
              <a:t>How does the environment shape </a:t>
            </a:r>
            <a:r>
              <a:rPr lang="en-US" sz="5400" u="sng" dirty="0"/>
              <a:t>optimal photosynthetic strategies</a:t>
            </a:r>
            <a:r>
              <a:rPr lang="en-US" sz="5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819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C1BE3-FE34-87E6-51B3-E232866E4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5DF74-4255-08E0-F02B-2AF6D26D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F111C-DC7E-F024-8B36-4ADF8BF7E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Eco-evolutionary optimality theory</a:t>
            </a:r>
          </a:p>
          <a:p>
            <a:r>
              <a:rPr lang="en-US" sz="4400" dirty="0"/>
              <a:t>Study 1: Global optimal photosynthetic strategies</a:t>
            </a:r>
          </a:p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Study 2: Site-level optimal photosynthetic strategies</a:t>
            </a:r>
          </a:p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Implications</a:t>
            </a:r>
          </a:p>
        </p:txBody>
      </p:sp>
    </p:spTree>
    <p:extLst>
      <p:ext uri="{BB962C8B-B14F-4D97-AF65-F5344CB8AC3E}">
        <p14:creationId xmlns:p14="http://schemas.microsoft.com/office/powerpoint/2010/main" val="3713124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62147-DE6B-33CC-3558-A970C55C4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simulation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1ADDB-0D51-337F-D376-046852AC5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Developed optimal photosynthesis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Used globally gridded climate to simulate traits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Used PCA to explore trait relationships and clustering</a:t>
            </a:r>
          </a:p>
          <a:p>
            <a:pPr lvl="1"/>
            <a:r>
              <a:rPr lang="en-US" sz="1600" dirty="0"/>
              <a:t>Carbon uptake (A</a:t>
            </a:r>
            <a:r>
              <a:rPr lang="en-US" sz="1600" baseline="-25000" dirty="0"/>
              <a:t>net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Carbon loss (R</a:t>
            </a:r>
            <a:r>
              <a:rPr lang="en-US" sz="1600" baseline="-25000" dirty="0"/>
              <a:t>d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Water use for photosynthesis (</a:t>
            </a:r>
            <a:r>
              <a:rPr lang="en-US" sz="1600" dirty="0" err="1"/>
              <a:t>g</a:t>
            </a:r>
            <a:r>
              <a:rPr lang="en-US" sz="1600" baseline="-25000" dirty="0" err="1"/>
              <a:t>sw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Nitrogen use for photosynthesis (</a:t>
            </a:r>
            <a:r>
              <a:rPr lang="en-US" sz="1600" dirty="0" err="1"/>
              <a:t>N</a:t>
            </a:r>
            <a:r>
              <a:rPr lang="en-US" sz="1600" baseline="-25000" dirty="0" err="1"/>
              <a:t>photo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Leaf economics (LMA)</a:t>
            </a:r>
          </a:p>
          <a:p>
            <a:pPr lvl="1"/>
            <a:r>
              <a:rPr lang="en-US" sz="1600" dirty="0"/>
              <a:t>Least-cost theory (</a:t>
            </a:r>
            <a:r>
              <a:rPr lang="el-GR" sz="1600" dirty="0"/>
              <a:t>χ)</a:t>
            </a:r>
            <a:endParaRPr lang="en-US" sz="1600" dirty="0"/>
          </a:p>
          <a:p>
            <a:pPr lvl="1"/>
            <a:r>
              <a:rPr lang="en-US" sz="1600" dirty="0"/>
              <a:t>Photosynthetic efficiency (</a:t>
            </a:r>
            <a:r>
              <a:rPr lang="en-US" sz="1600" dirty="0" err="1"/>
              <a:t>iWUE</a:t>
            </a:r>
            <a:r>
              <a:rPr lang="en-US" sz="1600" dirty="0"/>
              <a:t>, PNUE)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06D76-56E5-FB66-69CF-D1B0A6368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099" y="3767535"/>
            <a:ext cx="4659877" cy="2409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923DB8-E727-619A-8C6F-C120072B5B86}"/>
              </a:ext>
            </a:extLst>
          </p:cNvPr>
          <p:cNvSpPr txBox="1"/>
          <p:nvPr/>
        </p:nvSpPr>
        <p:spPr>
          <a:xfrm>
            <a:off x="7404099" y="6492875"/>
            <a:ext cx="4915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smithecophyslab</a:t>
            </a:r>
            <a:r>
              <a:rPr lang="en-US" dirty="0"/>
              <a:t>/</a:t>
            </a:r>
            <a:r>
              <a:rPr lang="en-US" dirty="0" err="1"/>
              <a:t>optimal_vcmax_r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354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5A599-CF40-B858-2E10-A431494F2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86B3-B947-4C40-A3E5-D78E144E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simulation strategy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B18C0E-663C-93B9-D1AD-05B78528D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548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3A874-6275-396D-A26B-5350A3A25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88E2-125B-3E02-A66D-71ADC65B7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simulation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C76BA-B48B-25D4-74DA-5BE3DBC30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Developed optimal photosynthesis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B4FBF-82F8-A72D-E286-C22364AB4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099" y="3767535"/>
            <a:ext cx="4659877" cy="2409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363DA1-DF3F-03F6-FB83-4609BA85B5ED}"/>
              </a:ext>
            </a:extLst>
          </p:cNvPr>
          <p:cNvSpPr txBox="1"/>
          <p:nvPr/>
        </p:nvSpPr>
        <p:spPr>
          <a:xfrm>
            <a:off x="7404099" y="6492875"/>
            <a:ext cx="4915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smithecophyslab</a:t>
            </a:r>
            <a:r>
              <a:rPr lang="en-US" dirty="0"/>
              <a:t>/</a:t>
            </a:r>
            <a:r>
              <a:rPr lang="en-US" dirty="0" err="1"/>
              <a:t>optimal_vcmax_r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401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F0EDC-B838-C026-BF89-B2F4C3C08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10BAA-6D19-5C11-93D4-F20D71D7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simulation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8D993-6A85-FDDA-311A-B87B1AA75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Developed optimal photosynthesis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Used globally gridded climate to simulate traits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9B95E7-86BE-A5ED-05E6-4DA95596B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099" y="3767535"/>
            <a:ext cx="4659877" cy="2409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BF3069-3310-3ED8-01FB-5FE96EB6E328}"/>
              </a:ext>
            </a:extLst>
          </p:cNvPr>
          <p:cNvSpPr txBox="1"/>
          <p:nvPr/>
        </p:nvSpPr>
        <p:spPr>
          <a:xfrm>
            <a:off x="7404099" y="6492875"/>
            <a:ext cx="4915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smithecophyslab</a:t>
            </a:r>
            <a:r>
              <a:rPr lang="en-US" dirty="0"/>
              <a:t>/</a:t>
            </a:r>
            <a:r>
              <a:rPr lang="en-US" dirty="0" err="1"/>
              <a:t>optimal_vcmax_r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0D3071-98F4-17AB-804F-E14B024B3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434" y="2929180"/>
            <a:ext cx="3928820" cy="392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450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57B69-D6DA-F3FF-5278-86F938410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D0FC-3F13-B899-BA91-BC557F3C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simulation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D358E-F40F-0237-BE91-679E067E0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Developed optimal photosynthesis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Used globally gridded climate to simulate traits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Used PCA to explore trait relationships and clustering</a:t>
            </a:r>
          </a:p>
          <a:p>
            <a:pPr lvl="1"/>
            <a:r>
              <a:rPr lang="en-US" sz="1600" dirty="0"/>
              <a:t>Carbon uptake (A</a:t>
            </a:r>
            <a:r>
              <a:rPr lang="en-US" sz="1600" baseline="-25000" dirty="0"/>
              <a:t>net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Carbon loss (R</a:t>
            </a:r>
            <a:r>
              <a:rPr lang="en-US" sz="1600" baseline="-25000" dirty="0"/>
              <a:t>d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Water use for photosynthesis (</a:t>
            </a:r>
            <a:r>
              <a:rPr lang="en-US" sz="1600" dirty="0" err="1"/>
              <a:t>g</a:t>
            </a:r>
            <a:r>
              <a:rPr lang="en-US" sz="1600" baseline="-25000" dirty="0" err="1"/>
              <a:t>sw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Nitrogen use for photosynthesis (</a:t>
            </a:r>
            <a:r>
              <a:rPr lang="en-US" sz="1600" dirty="0" err="1"/>
              <a:t>N</a:t>
            </a:r>
            <a:r>
              <a:rPr lang="en-US" sz="1600" baseline="-25000" dirty="0" err="1"/>
              <a:t>photo</a:t>
            </a:r>
            <a:r>
              <a:rPr lang="en-US" sz="1600" dirty="0"/>
              <a:t>)</a:t>
            </a:r>
          </a:p>
          <a:p>
            <a:pPr lvl="1"/>
            <a:r>
              <a:rPr lang="en-US" sz="1600" dirty="0"/>
              <a:t>Leaf economics (LMA)</a:t>
            </a:r>
          </a:p>
          <a:p>
            <a:pPr lvl="1"/>
            <a:r>
              <a:rPr lang="en-US" sz="1600" dirty="0"/>
              <a:t>Least-cost theory (</a:t>
            </a:r>
            <a:r>
              <a:rPr lang="el-GR" sz="1600" dirty="0"/>
              <a:t>χ)</a:t>
            </a:r>
            <a:endParaRPr lang="en-US" sz="1600" dirty="0"/>
          </a:p>
          <a:p>
            <a:pPr lvl="1"/>
            <a:r>
              <a:rPr lang="en-US" sz="1600" dirty="0"/>
              <a:t>Photosynthetic efficiency (</a:t>
            </a:r>
            <a:r>
              <a:rPr lang="en-US" sz="1600" dirty="0" err="1"/>
              <a:t>iWUE</a:t>
            </a:r>
            <a:r>
              <a:rPr lang="en-US" sz="1600" dirty="0"/>
              <a:t>, PNUE)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3DB98-B375-D712-4DA7-3DA2F26B0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099" y="3767535"/>
            <a:ext cx="4659877" cy="2409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28F174-8927-FD98-4ECA-68FEAB2ECEC0}"/>
              </a:ext>
            </a:extLst>
          </p:cNvPr>
          <p:cNvSpPr txBox="1"/>
          <p:nvPr/>
        </p:nvSpPr>
        <p:spPr>
          <a:xfrm>
            <a:off x="7404099" y="6492875"/>
            <a:ext cx="4915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smithecophyslab</a:t>
            </a:r>
            <a:r>
              <a:rPr lang="en-US" dirty="0"/>
              <a:t>/</a:t>
            </a:r>
            <a:r>
              <a:rPr lang="en-US" dirty="0" err="1"/>
              <a:t>optimal_vcmax_r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919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32C88-1629-70D4-3225-F68258AF6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253B9D-AFA8-6380-89B6-596D28005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0"/>
            <a:ext cx="6858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997926-3DFF-8C67-2E73-9F0019C22E3B}"/>
              </a:ext>
            </a:extLst>
          </p:cNvPr>
          <p:cNvSpPr/>
          <p:nvPr/>
        </p:nvSpPr>
        <p:spPr>
          <a:xfrm>
            <a:off x="903767" y="233916"/>
            <a:ext cx="6390168" cy="6049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61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50C3-0B87-223F-6301-CF825DD1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01BFDC-4B77-A730-1724-5CD74D6B7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0"/>
            <a:ext cx="6858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DACEB3-FB84-A669-B1BF-FCFEA7BC566B}"/>
              </a:ext>
            </a:extLst>
          </p:cNvPr>
          <p:cNvSpPr txBox="1"/>
          <p:nvPr/>
        </p:nvSpPr>
        <p:spPr>
          <a:xfrm>
            <a:off x="7200900" y="1549400"/>
            <a:ext cx="378501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PC1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11893"/>
                </a:solidFill>
              </a:rPr>
              <a:t>N use-WUE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4000" u="sng" dirty="0">
                <a:solidFill>
                  <a:srgbClr val="011893"/>
                </a:solidFill>
              </a:rPr>
              <a:t>C</a:t>
            </a:r>
            <a:r>
              <a:rPr lang="en-US" sz="4000" u="sng" baseline="-25000" dirty="0">
                <a:solidFill>
                  <a:srgbClr val="011893"/>
                </a:solidFill>
              </a:rPr>
              <a:t>3</a:t>
            </a:r>
            <a:r>
              <a:rPr lang="en-US" sz="4000" u="sng" dirty="0">
                <a:solidFill>
                  <a:srgbClr val="011893"/>
                </a:solidFill>
              </a:rPr>
              <a:t>-C</a:t>
            </a:r>
            <a:r>
              <a:rPr lang="en-US" sz="4000" u="sng" baseline="-25000" dirty="0">
                <a:solidFill>
                  <a:srgbClr val="011893"/>
                </a:solidFill>
              </a:rPr>
              <a:t>4</a:t>
            </a:r>
            <a:r>
              <a:rPr lang="en-US" sz="4000" u="sng" dirty="0">
                <a:solidFill>
                  <a:srgbClr val="011893"/>
                </a:solidFill>
              </a:rPr>
              <a:t> divide</a:t>
            </a:r>
          </a:p>
        </p:txBody>
      </p:sp>
    </p:spTree>
    <p:extLst>
      <p:ext uri="{BB962C8B-B14F-4D97-AF65-F5344CB8AC3E}">
        <p14:creationId xmlns:p14="http://schemas.microsoft.com/office/powerpoint/2010/main" val="3698378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CD88F3-693B-8268-2439-F2C348E0B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0"/>
            <a:ext cx="6858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BC9A44-4EE0-B445-CE7E-6C48249AE2F7}"/>
              </a:ext>
            </a:extLst>
          </p:cNvPr>
          <p:cNvSpPr txBox="1"/>
          <p:nvPr/>
        </p:nvSpPr>
        <p:spPr>
          <a:xfrm>
            <a:off x="7200900" y="1549400"/>
            <a:ext cx="440697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</a:rPr>
              <a:t>PC1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</a:rPr>
              <a:t>N use-WUE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</a:rPr>
              <a:t>C</a:t>
            </a:r>
            <a:r>
              <a:rPr lang="en-US" sz="4000" baseline="-25000" dirty="0">
                <a:solidFill>
                  <a:schemeClr val="bg1">
                    <a:lumMod val="85000"/>
                  </a:schemeClr>
                </a:solidFill>
              </a:rPr>
              <a:t>3</a:t>
            </a:r>
            <a:r>
              <a:rPr lang="en-US" sz="4000" dirty="0">
                <a:solidFill>
                  <a:schemeClr val="bg1">
                    <a:lumMod val="85000"/>
                  </a:schemeClr>
                </a:solidFill>
              </a:rPr>
              <a:t>-C</a:t>
            </a:r>
            <a:r>
              <a:rPr lang="en-US" sz="4000" baseline="-25000" dirty="0">
                <a:solidFill>
                  <a:schemeClr val="bg1">
                    <a:lumMod val="85000"/>
                  </a:schemeClr>
                </a:solidFill>
              </a:rPr>
              <a:t>4</a:t>
            </a:r>
            <a:r>
              <a:rPr lang="en-US" sz="4000" dirty="0">
                <a:solidFill>
                  <a:schemeClr val="bg1">
                    <a:lumMod val="85000"/>
                  </a:schemeClr>
                </a:solidFill>
              </a:rPr>
              <a:t> divide</a:t>
            </a:r>
          </a:p>
          <a:p>
            <a:r>
              <a:rPr lang="en-US" sz="4000" dirty="0"/>
              <a:t>PC2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11893"/>
                </a:solidFill>
              </a:rPr>
              <a:t>H</a:t>
            </a:r>
            <a:r>
              <a:rPr lang="en-US" sz="4000" baseline="-25000" dirty="0">
                <a:solidFill>
                  <a:srgbClr val="011893"/>
                </a:solidFill>
              </a:rPr>
              <a:t>2</a:t>
            </a:r>
            <a:r>
              <a:rPr lang="en-US" sz="4000" dirty="0">
                <a:solidFill>
                  <a:srgbClr val="011893"/>
                </a:solidFill>
              </a:rPr>
              <a:t>O use-PNUE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11893"/>
                </a:solidFill>
              </a:rPr>
              <a:t>A</a:t>
            </a:r>
            <a:r>
              <a:rPr lang="en-US" sz="4000" baseline="-25000" dirty="0">
                <a:solidFill>
                  <a:srgbClr val="011893"/>
                </a:solidFill>
              </a:rPr>
              <a:t>net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4000" u="sng" dirty="0">
                <a:solidFill>
                  <a:srgbClr val="011893"/>
                </a:solidFill>
              </a:rPr>
              <a:t>wet-dry divide</a:t>
            </a:r>
          </a:p>
        </p:txBody>
      </p:sp>
    </p:spTree>
    <p:extLst>
      <p:ext uri="{BB962C8B-B14F-4D97-AF65-F5344CB8AC3E}">
        <p14:creationId xmlns:p14="http://schemas.microsoft.com/office/powerpoint/2010/main" val="2469356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C8328D-78D3-81D2-D125-19BB0F65C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B29DDD-B6C1-702C-8819-04B94BEAF8F6}"/>
              </a:ext>
            </a:extLst>
          </p:cNvPr>
          <p:cNvSpPr txBox="1"/>
          <p:nvPr/>
        </p:nvSpPr>
        <p:spPr>
          <a:xfrm>
            <a:off x="7200900" y="1549400"/>
            <a:ext cx="504625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PC3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11893"/>
                </a:solidFill>
              </a:rPr>
              <a:t>LMA, R</a:t>
            </a:r>
            <a:r>
              <a:rPr lang="en-US" sz="4000" baseline="-25000" dirty="0">
                <a:solidFill>
                  <a:srgbClr val="011893"/>
                </a:solidFill>
              </a:rPr>
              <a:t>d</a:t>
            </a:r>
            <a:endParaRPr lang="en-US" sz="4000" dirty="0">
              <a:solidFill>
                <a:srgbClr val="011893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4000" u="sng" dirty="0">
                <a:solidFill>
                  <a:srgbClr val="011893"/>
                </a:solidFill>
              </a:rPr>
              <a:t>Leaf carbon costs</a:t>
            </a:r>
          </a:p>
        </p:txBody>
      </p:sp>
    </p:spTree>
    <p:extLst>
      <p:ext uri="{BB962C8B-B14F-4D97-AF65-F5344CB8AC3E}">
        <p14:creationId xmlns:p14="http://schemas.microsoft.com/office/powerpoint/2010/main" val="3507343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84C03-3E0F-39E0-0066-40F44637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5DF41-119F-EA3A-10C4-66C9D6BD3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4CF93-2D22-6701-03E8-49B19E082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Eco-evolutionary optimality theory</a:t>
            </a:r>
          </a:p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Study 1: Global optimal photosynthetic strategies</a:t>
            </a:r>
          </a:p>
          <a:p>
            <a:r>
              <a:rPr lang="en-US" sz="4400" dirty="0"/>
              <a:t>Study 2: Site-level optimal photosynthetic strategies</a:t>
            </a:r>
          </a:p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Implications</a:t>
            </a:r>
          </a:p>
        </p:txBody>
      </p:sp>
    </p:spTree>
    <p:extLst>
      <p:ext uri="{BB962C8B-B14F-4D97-AF65-F5344CB8AC3E}">
        <p14:creationId xmlns:p14="http://schemas.microsoft.com/office/powerpoint/2010/main" val="4235730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003D-57A8-BB60-A24B-22D9C34A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Site-level simulation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DE995-6FAA-2283-CAD7-821AB6FD0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811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52C7E-5B20-2661-E463-738B36250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F45A-0BB4-0BEF-090C-C0A2B0D7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Site-level simulation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6EEF1-8A2D-3838-4616-1824FFFA2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/>
          <a:lstStyle/>
          <a:p>
            <a:r>
              <a:rPr lang="en-US" dirty="0"/>
              <a:t>Chose sites representing different dominant PFTs</a:t>
            </a:r>
          </a:p>
        </p:txBody>
      </p:sp>
    </p:spTree>
    <p:extLst>
      <p:ext uri="{BB962C8B-B14F-4D97-AF65-F5344CB8AC3E}">
        <p14:creationId xmlns:p14="http://schemas.microsoft.com/office/powerpoint/2010/main" val="3455290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3557B-0F5B-2C27-0108-6FDE9AA7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BA8F-4884-D766-D791-F19CC9A7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Site-level simulation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8EA8E-637F-27FB-FC01-3AF9E093E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/>
          <a:lstStyle/>
          <a:p>
            <a:r>
              <a:rPr lang="en-US" dirty="0"/>
              <a:t>Chose sites representing different dominant PFTs</a:t>
            </a:r>
          </a:p>
          <a:p>
            <a:pPr lvl="1"/>
            <a:r>
              <a:rPr lang="en-US" dirty="0"/>
              <a:t>NEON network</a:t>
            </a:r>
          </a:p>
          <a:p>
            <a:pPr lvl="1"/>
            <a:r>
              <a:rPr lang="en-US" dirty="0"/>
              <a:t>Deciduous trees, evergreen trees, mixed forests, C</a:t>
            </a:r>
            <a:r>
              <a:rPr lang="en-US" baseline="-25000" dirty="0"/>
              <a:t>4</a:t>
            </a:r>
            <a:r>
              <a:rPr lang="en-US" dirty="0"/>
              <a:t> grasses</a:t>
            </a:r>
          </a:p>
        </p:txBody>
      </p:sp>
      <p:pic>
        <p:nvPicPr>
          <p:cNvPr id="4" name="Picture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ED787F59-BFDE-3CA8-BA12-B681E78A12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0" t="19130" r="3840" b="17856"/>
          <a:stretch>
            <a:fillRect/>
          </a:stretch>
        </p:blipFill>
        <p:spPr bwMode="auto">
          <a:xfrm>
            <a:off x="7315200" y="1825625"/>
            <a:ext cx="4876800" cy="37445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47444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C287C-7C71-D277-BBE3-FCABB98BF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78CB7-D281-B50A-9609-B49A520BF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Site-level simulation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189B0-51B1-AAD2-3383-5C832D8EC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/>
          <a:lstStyle/>
          <a:p>
            <a:r>
              <a:rPr lang="en-US" dirty="0"/>
              <a:t>Chose sites representing different dominant PFTs</a:t>
            </a:r>
          </a:p>
          <a:p>
            <a:pPr lvl="1"/>
            <a:r>
              <a:rPr lang="en-US" dirty="0"/>
              <a:t>NEON network</a:t>
            </a:r>
          </a:p>
          <a:p>
            <a:pPr lvl="1"/>
            <a:r>
              <a:rPr lang="en-US" dirty="0"/>
              <a:t>Deciduous trees, evergreen trees, mixed forests, C</a:t>
            </a:r>
            <a:r>
              <a:rPr lang="en-US" baseline="-25000" dirty="0"/>
              <a:t>4</a:t>
            </a:r>
            <a:r>
              <a:rPr lang="en-US" dirty="0"/>
              <a:t> grasses</a:t>
            </a:r>
          </a:p>
          <a:p>
            <a:r>
              <a:rPr lang="en-US" dirty="0"/>
              <a:t>Simulated optimal traits 10,000x using climate distribution (mean +/- 0.1*mean)</a:t>
            </a:r>
          </a:p>
        </p:txBody>
      </p:sp>
      <p:pic>
        <p:nvPicPr>
          <p:cNvPr id="4" name="Picture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A6A7DED3-8A4F-983F-79CE-CF3A07EF7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0" t="19130" r="3840" b="17856"/>
          <a:stretch>
            <a:fillRect/>
          </a:stretch>
        </p:blipFill>
        <p:spPr bwMode="auto">
          <a:xfrm>
            <a:off x="7315200" y="1825625"/>
            <a:ext cx="4876800" cy="37445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65991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computer generated image&#10;&#10;AI-generated content may be incorrect.">
            <a:extLst>
              <a:ext uri="{FF2B5EF4-FFF2-40B4-BE49-F238E27FC236}">
                <a16:creationId xmlns:a16="http://schemas.microsoft.com/office/drawing/2014/main" id="{F225C3BD-C5AE-59D5-02AD-9A4E392AAC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7" r="50058"/>
          <a:stretch>
            <a:fillRect/>
          </a:stretch>
        </p:blipFill>
        <p:spPr>
          <a:xfrm>
            <a:off x="0" y="242047"/>
            <a:ext cx="6347012" cy="60800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FDEAF8-25FF-4A51-60E3-D81179A78940}"/>
              </a:ext>
            </a:extLst>
          </p:cNvPr>
          <p:cNvSpPr txBox="1"/>
          <p:nvPr/>
        </p:nvSpPr>
        <p:spPr>
          <a:xfrm>
            <a:off x="7200900" y="1549400"/>
            <a:ext cx="49911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PCs defined similarly to global simulation</a:t>
            </a:r>
          </a:p>
          <a:p>
            <a:endParaRPr lang="en-US" sz="4000" dirty="0"/>
          </a:p>
          <a:p>
            <a:r>
              <a:rPr lang="en-US" sz="4000" dirty="0"/>
              <a:t>A lot of within-site variability</a:t>
            </a:r>
          </a:p>
        </p:txBody>
      </p:sp>
    </p:spTree>
    <p:extLst>
      <p:ext uri="{BB962C8B-B14F-4D97-AF65-F5344CB8AC3E}">
        <p14:creationId xmlns:p14="http://schemas.microsoft.com/office/powerpoint/2010/main" val="6681700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15B3C3DD-40B2-FDCC-40EC-D060A05570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35" y="428927"/>
            <a:ext cx="11143129" cy="600014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16BC8A-39EF-695E-037D-D8565E08A0B2}"/>
              </a:ext>
            </a:extLst>
          </p:cNvPr>
          <p:cNvSpPr/>
          <p:nvPr/>
        </p:nvSpPr>
        <p:spPr>
          <a:xfrm>
            <a:off x="6096000" y="228600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58045E-53AE-15F7-62E0-05300ECA5ED7}"/>
              </a:ext>
            </a:extLst>
          </p:cNvPr>
          <p:cNvSpPr/>
          <p:nvPr/>
        </p:nvSpPr>
        <p:spPr>
          <a:xfrm>
            <a:off x="8780929" y="3429000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102756-5C22-522B-C860-8CD56384647B}"/>
              </a:ext>
            </a:extLst>
          </p:cNvPr>
          <p:cNvSpPr/>
          <p:nvPr/>
        </p:nvSpPr>
        <p:spPr>
          <a:xfrm>
            <a:off x="322730" y="3429000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59C39B-7DD7-312D-CFAB-7211E999CB2D}"/>
              </a:ext>
            </a:extLst>
          </p:cNvPr>
          <p:cNvSpPr/>
          <p:nvPr/>
        </p:nvSpPr>
        <p:spPr>
          <a:xfrm>
            <a:off x="3209365" y="3429000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6D433-A2F0-EC97-034E-36E405959F50}"/>
              </a:ext>
            </a:extLst>
          </p:cNvPr>
          <p:cNvSpPr txBox="1"/>
          <p:nvPr/>
        </p:nvSpPr>
        <p:spPr>
          <a:xfrm>
            <a:off x="524435" y="3724835"/>
            <a:ext cx="55715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11893"/>
                </a:solidFill>
              </a:rPr>
              <a:t>Within-site variability </a:t>
            </a:r>
            <a:r>
              <a:rPr lang="en-US" sz="3600" dirty="0"/>
              <a:t>is larger than across-site for many traits</a:t>
            </a:r>
          </a:p>
        </p:txBody>
      </p:sp>
    </p:spTree>
    <p:extLst>
      <p:ext uri="{BB962C8B-B14F-4D97-AF65-F5344CB8AC3E}">
        <p14:creationId xmlns:p14="http://schemas.microsoft.com/office/powerpoint/2010/main" val="2220191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C64F9-760F-C793-7FD9-F70C1E237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E27C3E3B-58D8-0B22-BDEB-BD23609869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35" y="428927"/>
            <a:ext cx="11143129" cy="600014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681A39-533A-0347-CC1B-ADCE00D0DA07}"/>
              </a:ext>
            </a:extLst>
          </p:cNvPr>
          <p:cNvSpPr/>
          <p:nvPr/>
        </p:nvSpPr>
        <p:spPr>
          <a:xfrm>
            <a:off x="5995147" y="3429000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9F0049-961D-78D7-1B3C-F655B9B2088D}"/>
              </a:ext>
            </a:extLst>
          </p:cNvPr>
          <p:cNvSpPr/>
          <p:nvPr/>
        </p:nvSpPr>
        <p:spPr>
          <a:xfrm>
            <a:off x="8780929" y="228600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D7BCEC-6604-B7D3-67A0-BE920CF4EC3F}"/>
              </a:ext>
            </a:extLst>
          </p:cNvPr>
          <p:cNvSpPr/>
          <p:nvPr/>
        </p:nvSpPr>
        <p:spPr>
          <a:xfrm>
            <a:off x="322730" y="428927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672506-791E-B9CE-8524-D7C03240F409}"/>
              </a:ext>
            </a:extLst>
          </p:cNvPr>
          <p:cNvSpPr/>
          <p:nvPr/>
        </p:nvSpPr>
        <p:spPr>
          <a:xfrm>
            <a:off x="3209364" y="228600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AA036-5861-DBE7-5BF9-537AFB698D4D}"/>
              </a:ext>
            </a:extLst>
          </p:cNvPr>
          <p:cNvSpPr/>
          <p:nvPr/>
        </p:nvSpPr>
        <p:spPr>
          <a:xfrm>
            <a:off x="8780928" y="3328837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60A23F-B568-C7BE-2F35-57DFF5804C71}"/>
              </a:ext>
            </a:extLst>
          </p:cNvPr>
          <p:cNvSpPr txBox="1"/>
          <p:nvPr/>
        </p:nvSpPr>
        <p:spPr>
          <a:xfrm>
            <a:off x="524435" y="951637"/>
            <a:ext cx="55715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Some traits show separation by </a:t>
            </a:r>
            <a:r>
              <a:rPr lang="en-US" sz="3600" dirty="0">
                <a:solidFill>
                  <a:srgbClr val="011893"/>
                </a:solidFill>
              </a:rPr>
              <a:t>photosynthetic type</a:t>
            </a:r>
          </a:p>
        </p:txBody>
      </p:sp>
    </p:spTree>
    <p:extLst>
      <p:ext uri="{BB962C8B-B14F-4D97-AF65-F5344CB8AC3E}">
        <p14:creationId xmlns:p14="http://schemas.microsoft.com/office/powerpoint/2010/main" val="2183751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6E9CD-EC7C-3230-FFAC-88EA99E66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69FFDC74-D085-AD5D-6E42-869AACE3FE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35" y="428927"/>
            <a:ext cx="11143129" cy="600014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54CD71-1516-BB3B-6AB2-4E7A1A9C2309}"/>
              </a:ext>
            </a:extLst>
          </p:cNvPr>
          <p:cNvSpPr/>
          <p:nvPr/>
        </p:nvSpPr>
        <p:spPr>
          <a:xfrm>
            <a:off x="5995147" y="3429000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3523A8-E176-1F0B-7256-3B716D18BFCF}"/>
              </a:ext>
            </a:extLst>
          </p:cNvPr>
          <p:cNvSpPr/>
          <p:nvPr/>
        </p:nvSpPr>
        <p:spPr>
          <a:xfrm>
            <a:off x="8780929" y="228600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BBADE-C366-28C4-3D27-264C3D6DC85A}"/>
              </a:ext>
            </a:extLst>
          </p:cNvPr>
          <p:cNvSpPr/>
          <p:nvPr/>
        </p:nvSpPr>
        <p:spPr>
          <a:xfrm>
            <a:off x="322730" y="428927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B789D4-051B-4ED0-250B-86479FCDDD60}"/>
              </a:ext>
            </a:extLst>
          </p:cNvPr>
          <p:cNvSpPr/>
          <p:nvPr/>
        </p:nvSpPr>
        <p:spPr>
          <a:xfrm>
            <a:off x="3209364" y="228600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32E994-5ED6-FD1F-BDB8-FCC192263B0E}"/>
              </a:ext>
            </a:extLst>
          </p:cNvPr>
          <p:cNvSpPr/>
          <p:nvPr/>
        </p:nvSpPr>
        <p:spPr>
          <a:xfrm>
            <a:off x="3209364" y="3429000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3578E-BF62-C28C-0260-1A49627D70AD}"/>
              </a:ext>
            </a:extLst>
          </p:cNvPr>
          <p:cNvSpPr/>
          <p:nvPr/>
        </p:nvSpPr>
        <p:spPr>
          <a:xfrm>
            <a:off x="5995146" y="428927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FBFD0D-609C-8220-2FD6-DD33815A403F}"/>
              </a:ext>
            </a:extLst>
          </p:cNvPr>
          <p:cNvSpPr/>
          <p:nvPr/>
        </p:nvSpPr>
        <p:spPr>
          <a:xfrm>
            <a:off x="524435" y="3228673"/>
            <a:ext cx="2886635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185E8A-48A8-99A6-5E1C-2560E11EA9A9}"/>
              </a:ext>
            </a:extLst>
          </p:cNvPr>
          <p:cNvSpPr txBox="1"/>
          <p:nvPr/>
        </p:nvSpPr>
        <p:spPr>
          <a:xfrm>
            <a:off x="524435" y="951637"/>
            <a:ext cx="55715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LMA shows </a:t>
            </a:r>
            <a:r>
              <a:rPr lang="en-US" sz="3600" dirty="0">
                <a:solidFill>
                  <a:srgbClr val="011893"/>
                </a:solidFill>
              </a:rPr>
              <a:t>separation by PFT</a:t>
            </a:r>
          </a:p>
        </p:txBody>
      </p:sp>
    </p:spTree>
    <p:extLst>
      <p:ext uri="{BB962C8B-B14F-4D97-AF65-F5344CB8AC3E}">
        <p14:creationId xmlns:p14="http://schemas.microsoft.com/office/powerpoint/2010/main" val="2390707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B8B8-C037-F4A1-D289-E6A187269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810A-31E0-ACFF-6F89-1F1CD7662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498B-26F0-433D-577B-2B52ABDFA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Eco-evolutionary optimality theory</a:t>
            </a:r>
          </a:p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Study 1: Global optimal photosynthetic strategies</a:t>
            </a:r>
          </a:p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Study 2: Site-level optimal photosynthetic strategies</a:t>
            </a:r>
          </a:p>
          <a:p>
            <a:r>
              <a:rPr lang="en-US" sz="4400" dirty="0"/>
              <a:t>Implications</a:t>
            </a:r>
          </a:p>
        </p:txBody>
      </p:sp>
    </p:spTree>
    <p:extLst>
      <p:ext uri="{BB962C8B-B14F-4D97-AF65-F5344CB8AC3E}">
        <p14:creationId xmlns:p14="http://schemas.microsoft.com/office/powerpoint/2010/main" val="34965076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AE868-ACA8-2403-3CAD-7188FD34E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C6D05-5245-B16E-2D33-7809E2387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AE896-EF4E-CDC1-439F-B17825AF0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simulate optimal photosynthetic strategies</a:t>
            </a:r>
          </a:p>
        </p:txBody>
      </p:sp>
    </p:spTree>
    <p:extLst>
      <p:ext uri="{BB962C8B-B14F-4D97-AF65-F5344CB8AC3E}">
        <p14:creationId xmlns:p14="http://schemas.microsoft.com/office/powerpoint/2010/main" val="38479288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6A9B9-3FCA-BF79-C7E1-B45DD941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1299-7FD1-18FC-27D1-E5E992C60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93904-B131-B70B-63FB-615C33924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We can simulate optimal photosynthetic strategies</a:t>
            </a:r>
          </a:p>
          <a:p>
            <a:r>
              <a:rPr lang="en-US" dirty="0"/>
              <a:t>The three defining axes of optimal photosynthetic strategies: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Nitrogen use-water use efficiency (</a:t>
            </a:r>
            <a:r>
              <a:rPr lang="en-US" dirty="0">
                <a:solidFill>
                  <a:srgbClr val="011893"/>
                </a:solidFill>
              </a:rPr>
              <a:t>PFT-driven</a:t>
            </a:r>
            <a:r>
              <a:rPr lang="en-US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Water use-nitrogen use efficiency (</a:t>
            </a:r>
            <a:r>
              <a:rPr lang="en-US" dirty="0">
                <a:solidFill>
                  <a:srgbClr val="011893"/>
                </a:solidFill>
              </a:rPr>
              <a:t>climate-driven</a:t>
            </a:r>
            <a:r>
              <a:rPr lang="en-US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Tissue costs of photosynthesis</a:t>
            </a:r>
          </a:p>
        </p:txBody>
      </p:sp>
    </p:spTree>
    <p:extLst>
      <p:ext uri="{BB962C8B-B14F-4D97-AF65-F5344CB8AC3E}">
        <p14:creationId xmlns:p14="http://schemas.microsoft.com/office/powerpoint/2010/main" val="2719256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9AA1C-AAF9-0E1B-A304-CDF750713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286D-FBDD-459B-9572-E42512AE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32233-EBAF-000F-33DD-8FB98B28A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We can simulate optimal photosynthetic strategies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The three defining axes of optimal photosynthetic strategies: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use-water use efficiency (PFT-driven)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Water use-nitrogen use efficiency (climate-driven)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Tissue costs of photosynthesis</a:t>
            </a:r>
          </a:p>
          <a:p>
            <a:r>
              <a:rPr lang="en-US" dirty="0">
                <a:solidFill>
                  <a:srgbClr val="011893"/>
                </a:solidFill>
              </a:rPr>
              <a:t>Plant type </a:t>
            </a:r>
            <a:r>
              <a:rPr lang="en-US" dirty="0"/>
              <a:t>dictates optimal photosynthetic strategies via some (LMA, WUE, N use), but not all traits</a:t>
            </a:r>
          </a:p>
        </p:txBody>
      </p:sp>
    </p:spTree>
    <p:extLst>
      <p:ext uri="{BB962C8B-B14F-4D97-AF65-F5344CB8AC3E}">
        <p14:creationId xmlns:p14="http://schemas.microsoft.com/office/powerpoint/2010/main" val="1226707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9B914-21C9-E8B7-71F0-4FF4E1157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5207B-D363-66F4-FE10-0A4C94554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We can simulate optimal photosynthetic strategies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The three defining axes of optimal photosynthetic strategies: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use-water use efficiency (PFT-driven)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Water use-nitrogen use efficiency (climate-driven)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Tissue costs of photosynthesis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Plant type dictates optimal photosynthetic strategies via some (LMA, WUE, N use), but not all traits</a:t>
            </a:r>
          </a:p>
          <a:p>
            <a:r>
              <a:rPr lang="en-US" dirty="0"/>
              <a:t>There are </a:t>
            </a:r>
            <a:r>
              <a:rPr lang="en-US" dirty="0">
                <a:solidFill>
                  <a:srgbClr val="011893"/>
                </a:solidFill>
              </a:rPr>
              <a:t>many optimal strategies </a:t>
            </a:r>
            <a:r>
              <a:rPr lang="en-US" dirty="0"/>
              <a:t>within an environment</a:t>
            </a:r>
          </a:p>
        </p:txBody>
      </p:sp>
    </p:spTree>
    <p:extLst>
      <p:ext uri="{BB962C8B-B14F-4D97-AF65-F5344CB8AC3E}">
        <p14:creationId xmlns:p14="http://schemas.microsoft.com/office/powerpoint/2010/main" val="983470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4EDE9-40ED-CC99-9024-765F9B913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944DD5-E274-96EB-E379-92059B2B14D8}"/>
              </a:ext>
            </a:extLst>
          </p:cNvPr>
          <p:cNvSpPr txBox="1"/>
          <p:nvPr/>
        </p:nvSpPr>
        <p:spPr>
          <a:xfrm>
            <a:off x="1027771" y="2274178"/>
            <a:ext cx="10136458" cy="3416320"/>
          </a:xfrm>
          <a:prstGeom prst="rect">
            <a:avLst/>
          </a:prstGeom>
          <a:solidFill>
            <a:srgbClr val="00B050">
              <a:alpha val="75034"/>
            </a:srgbClr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5400" dirty="0"/>
              <a:t>There are many ways </a:t>
            </a:r>
            <a:r>
              <a:rPr lang="en-US" sz="5400"/>
              <a:t>plants can </a:t>
            </a:r>
            <a:r>
              <a:rPr lang="en-US" sz="5400" dirty="0"/>
              <a:t>optimize photosynthesis and we can now quantitatively predict those strategies</a:t>
            </a:r>
          </a:p>
        </p:txBody>
      </p:sp>
    </p:spTree>
    <p:extLst>
      <p:ext uri="{BB962C8B-B14F-4D97-AF65-F5344CB8AC3E}">
        <p14:creationId xmlns:p14="http://schemas.microsoft.com/office/powerpoint/2010/main" val="31471038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B0E9E-A414-0D1C-D3BE-36F33166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notice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12EE7-956B-4695-7EED-4D9FF9554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Lab is moving to the University of Nebraska - Lincoln</a:t>
            </a:r>
          </a:p>
          <a:p>
            <a:r>
              <a:rPr lang="en-US" dirty="0"/>
              <a:t>Starting Fall 2026</a:t>
            </a:r>
          </a:p>
          <a:p>
            <a:r>
              <a:rPr lang="en-US" dirty="0"/>
              <a:t>Looking for lab manager and graduate students</a:t>
            </a:r>
          </a:p>
          <a:p>
            <a:r>
              <a:rPr lang="en-US" dirty="0"/>
              <a:t>Reach out if you are interested in collaborating</a:t>
            </a:r>
          </a:p>
        </p:txBody>
      </p:sp>
      <p:pic>
        <p:nvPicPr>
          <p:cNvPr id="4" name="Picture 3" descr="Our Marks | Brand Guide | University Communication &amp; Marketing | Nebraska">
            <a:extLst>
              <a:ext uri="{FF2B5EF4-FFF2-40B4-BE49-F238E27FC236}">
                <a16:creationId xmlns:a16="http://schemas.microsoft.com/office/drawing/2014/main" id="{4BBDA1AA-B11C-07AA-7F25-FFDCEFD88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027906"/>
            <a:ext cx="4572000" cy="2971800"/>
          </a:xfrm>
          <a:prstGeom prst="rect">
            <a:avLst/>
          </a:prstGeom>
        </p:spPr>
      </p:pic>
      <p:pic>
        <p:nvPicPr>
          <p:cNvPr id="5" name="Picture 4" descr="Site Info for US-Ne1- AmeriFlux">
            <a:extLst>
              <a:ext uri="{FF2B5EF4-FFF2-40B4-BE49-F238E27FC236}">
                <a16:creationId xmlns:a16="http://schemas.microsoft.com/office/drawing/2014/main" id="{3A14672B-A873-593A-B7EB-D2B8A91CE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4489021"/>
            <a:ext cx="2857500" cy="190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9069B8-8EBE-41D0-D494-31648D414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129" y="4489021"/>
            <a:ext cx="2145441" cy="214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696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1004" y="19484"/>
            <a:ext cx="9630770" cy="6838516"/>
          </a:xfrm>
          <a:prstGeom prst="rect">
            <a:avLst/>
          </a:prstGeom>
        </p:spPr>
      </p:pic>
      <p:sp>
        <p:nvSpPr>
          <p:cNvPr id="4" name="Oval Callout 3"/>
          <p:cNvSpPr/>
          <p:nvPr/>
        </p:nvSpPr>
        <p:spPr>
          <a:xfrm>
            <a:off x="7812741" y="2286000"/>
            <a:ext cx="2070847" cy="1452282"/>
          </a:xfrm>
          <a:prstGeom prst="wedgeEllipseCallout">
            <a:avLst>
              <a:gd name="adj1" fmla="val -76028"/>
              <a:gd name="adj2" fmla="val 84722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Thanks!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4F0BB1-5183-D24C-9A32-AECF3E7CDD10}"/>
              </a:ext>
            </a:extLst>
          </p:cNvPr>
          <p:cNvSpPr txBox="1"/>
          <p:nvPr/>
        </p:nvSpPr>
        <p:spPr>
          <a:xfrm>
            <a:off x="1201004" y="19484"/>
            <a:ext cx="9591857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Presentation: </a:t>
            </a:r>
            <a:r>
              <a:rPr lang="en-US" sz="2800" dirty="0" err="1"/>
              <a:t>github.com</a:t>
            </a:r>
            <a:r>
              <a:rPr lang="en-US" sz="2800" dirty="0"/>
              <a:t>/</a:t>
            </a:r>
            <a:r>
              <a:rPr lang="en-US" sz="2800" dirty="0" err="1"/>
              <a:t>SmithEcophysLab</a:t>
            </a:r>
            <a:r>
              <a:rPr lang="en-US" sz="2800" dirty="0"/>
              <a:t>/esa_2026</a:t>
            </a:r>
          </a:p>
          <a:p>
            <a:r>
              <a:rPr lang="en-US" sz="2800" dirty="0"/>
              <a:t>Model code: </a:t>
            </a:r>
            <a:r>
              <a:rPr lang="en-US" sz="2800" dirty="0" err="1"/>
              <a:t>github.com</a:t>
            </a:r>
            <a:r>
              <a:rPr lang="en-US" sz="2800" dirty="0"/>
              <a:t>/</a:t>
            </a:r>
            <a:r>
              <a:rPr lang="en-US" sz="2800" dirty="0" err="1"/>
              <a:t>SmithEcophysLab</a:t>
            </a:r>
            <a:r>
              <a:rPr lang="en-US" sz="2800" dirty="0"/>
              <a:t>/</a:t>
            </a:r>
            <a:r>
              <a:rPr lang="en-US" sz="2800" dirty="0" err="1"/>
              <a:t>optimal_vcmax_r</a:t>
            </a:r>
            <a:endParaRPr lang="en-US" sz="2800" dirty="0"/>
          </a:p>
          <a:p>
            <a:r>
              <a:rPr lang="en-US" sz="2800" dirty="0"/>
              <a:t>Contact: nsmith87@unl.edu</a:t>
            </a:r>
          </a:p>
        </p:txBody>
      </p:sp>
    </p:spTree>
    <p:extLst>
      <p:ext uri="{BB962C8B-B14F-4D97-AF65-F5344CB8AC3E}">
        <p14:creationId xmlns:p14="http://schemas.microsoft.com/office/powerpoint/2010/main" val="40666957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A1C4710E-D3A4-9810-4148-ABB6963AD9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109" y="766827"/>
            <a:ext cx="9688925" cy="521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46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1723</TotalTime>
  <Words>805</Words>
  <Application>Microsoft Macintosh PowerPoint</Application>
  <PresentationFormat>Widescreen</PresentationFormat>
  <Paragraphs>141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Office Theme</vt:lpstr>
      <vt:lpstr>Optimal photosynthetic strategies</vt:lpstr>
      <vt:lpstr>Outline</vt:lpstr>
      <vt:lpstr>Outline</vt:lpstr>
      <vt:lpstr>Eco-evolutionary optimality theory</vt:lpstr>
      <vt:lpstr>Photosynthesis optimization: least cost</vt:lpstr>
      <vt:lpstr>Optimal trait example The maximum rate of RuBisCO carboxylation (Vcmax)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</vt:lpstr>
      <vt:lpstr>Global simulation strategy</vt:lpstr>
      <vt:lpstr>Global simulation strategy</vt:lpstr>
      <vt:lpstr>Global simulation strategy</vt:lpstr>
      <vt:lpstr>Global simulation approach</vt:lpstr>
      <vt:lpstr>Global simulation approach</vt:lpstr>
      <vt:lpstr>PowerPoint Presentation</vt:lpstr>
      <vt:lpstr>PowerPoint Presentation</vt:lpstr>
      <vt:lpstr>PowerPoint Presentation</vt:lpstr>
      <vt:lpstr>PowerPoint Presentation</vt:lpstr>
      <vt:lpstr>Outline</vt:lpstr>
      <vt:lpstr>Site-level simulation approach</vt:lpstr>
      <vt:lpstr>Site-level simulation approach</vt:lpstr>
      <vt:lpstr>Site-level simulation approach</vt:lpstr>
      <vt:lpstr>Site-level simulation approach</vt:lpstr>
      <vt:lpstr>PowerPoint Presentation</vt:lpstr>
      <vt:lpstr>PowerPoint Presentation</vt:lpstr>
      <vt:lpstr>PowerPoint Presentation</vt:lpstr>
      <vt:lpstr>PowerPoint Presentation</vt:lpstr>
      <vt:lpstr>Outline</vt:lpstr>
      <vt:lpstr>Implications</vt:lpstr>
      <vt:lpstr>Implications</vt:lpstr>
      <vt:lpstr>Implications</vt:lpstr>
      <vt:lpstr>Implications</vt:lpstr>
      <vt:lpstr>PowerPoint Presentation</vt:lpstr>
      <vt:lpstr>Quick notice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Nick</dc:creator>
  <cp:lastModifiedBy>Smith, Nick</cp:lastModifiedBy>
  <cp:revision>39</cp:revision>
  <dcterms:created xsi:type="dcterms:W3CDTF">2026-04-27T13:58:39Z</dcterms:created>
  <dcterms:modified xsi:type="dcterms:W3CDTF">2026-07-27T20:59:06Z</dcterms:modified>
</cp:coreProperties>
</file>